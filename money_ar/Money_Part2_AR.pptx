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846" y="266700"/>
            <a:ext cx="1758462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00" lang="ar-EG">
                <a:solidFill>
                  <a:srgbClr val="8C8C8C"/>
                </a:solidFill>
                <a:latin typeface="Arial"/>
                <a:cs typeface="Arial"/>
              </a:rPr>
              <a:t>التطور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846" y="6400800"/>
            <a:ext cx="2110154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700" lang="ar-EG">
                <a:solidFill>
                  <a:srgbClr val="8C8C8C"/>
                </a:solidFill>
                <a:latin typeface="Arial"/>
                <a:cs typeface="Arial"/>
              </a:rPr>
              <a:t>النقود والبنوك • ١٨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73923" y="419100"/>
            <a:ext cx="6330462" cy="4953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 lang="ar-EG">
                <a:solidFill>
                  <a:srgbClr val="FFFFFF"/>
                </a:solidFill>
                <a:latin typeface="Arial"/>
                <a:cs typeface="Arial"/>
              </a:rPr>
              <a:t>النقود الورقية والنقود الإلزامية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846" y="914400"/>
            <a:ext cx="8651631" cy="8382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تستمد النقود الإلزامية الحديثة قيمتها أساسًا من قبولها العام ومن دعم النظام النقدي لها.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4277" y="1828800"/>
            <a:ext cx="2391508" cy="1638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60" lang="ar-EG">
                <a:solidFill>
                  <a:srgbClr val="1F2D4D"/>
                </a:solidFill>
                <a:latin typeface="Arial"/>
                <a:cs typeface="Arial"/>
              </a:rPr>
              <a:t>الاعتراف القانوني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00" lang="ar-EG">
                <a:solidFill>
                  <a:srgbClr val="595959"/>
                </a:solidFill>
                <a:latin typeface="Arial"/>
                <a:cs typeface="Arial"/>
              </a:rPr>
              <a:t>معترفٌ بها في إطار النظامين النقدي والقانوني.</a:t>
            </a:r>
          </a:p>
        </p:txBody>
      </p:sp>
      <p:sp>
        <p:nvSpPr>
          <p:cNvPr id="9" name="Rectangle 8"/>
          <p:cNvSpPr/>
          <p:nvPr/>
        </p:nvSpPr>
        <p:spPr>
          <a:xfrm>
            <a:off x="8423031" y="1866900"/>
            <a:ext cx="52754" cy="15621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23492" y="1828800"/>
            <a:ext cx="2338754" cy="1638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60" lang="ar-EG">
                <a:solidFill>
                  <a:srgbClr val="1F2D4D"/>
                </a:solidFill>
                <a:latin typeface="Arial"/>
                <a:cs typeface="Arial"/>
              </a:rPr>
              <a:t>الثقة العامة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00" lang="ar-EG">
                <a:solidFill>
                  <a:srgbClr val="595959"/>
                </a:solidFill>
                <a:latin typeface="Arial"/>
                <a:cs typeface="Arial"/>
              </a:rPr>
              <a:t>يتوقع الأفراد أن يقبلها الآخرون.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09492" y="1866900"/>
            <a:ext cx="52754" cy="15621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27538" y="1828800"/>
            <a:ext cx="2338754" cy="1638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60" lang="ar-EG">
                <a:solidFill>
                  <a:srgbClr val="1F2D4D"/>
                </a:solidFill>
                <a:latin typeface="Arial"/>
                <a:cs typeface="Arial"/>
              </a:rPr>
              <a:t>القبول العام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00" lang="ar-EG">
                <a:solidFill>
                  <a:srgbClr val="595959"/>
                </a:solidFill>
                <a:latin typeface="Arial"/>
                <a:cs typeface="Arial"/>
              </a:rPr>
              <a:t>يمكن استخدامها في شراء السلع وتسوية الديون.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3538" y="1866900"/>
            <a:ext cx="52754" cy="1562100"/>
          </a:xfrm>
          <a:prstGeom prst="rect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29000" y="3619500"/>
            <a:ext cx="5275385" cy="4953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FFFFFF"/>
                </a:solidFill>
                <a:latin typeface="Arial"/>
                <a:cs typeface="Arial"/>
              </a:rPr>
              <a:t>النقود المصرفية: الودائع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1846" y="4152900"/>
            <a:ext cx="5627077" cy="4953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 lang="ar-EG">
                <a:solidFill>
                  <a:srgbClr val="FFFF00"/>
                </a:solidFill>
                <a:latin typeface="Arial"/>
                <a:cs typeface="Arial"/>
              </a:rPr>
              <a:t>ليست النقود كلُّها نقدًا.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78769" y="4800600"/>
            <a:ext cx="2637692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الإيداع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يُودِع أحمد ٢٠٬٠٠٠ جنيه مصري.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3154" y="4800600"/>
            <a:ext cx="2584938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الدفع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التحويل • بطاقة الخصم • سداد الفواتير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85338" y="4838700"/>
            <a:ext cx="52754" cy="14478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4785" y="4800600"/>
            <a:ext cx="2602523" cy="1524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88900" rIns="88900" tIns="53340" bIns="5334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النتيجة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إتمام السداد دون انتقال الأوراق النقدية فعليًا.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846" y="266700"/>
            <a:ext cx="1758462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00" lang="ar-EG">
                <a:solidFill>
                  <a:srgbClr val="8C8C8C"/>
                </a:solidFill>
                <a:latin typeface="Arial"/>
                <a:cs typeface="Arial"/>
              </a:rPr>
              <a:t>العصر الرقمي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846" y="6400800"/>
            <a:ext cx="2110154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700" lang="ar-EG">
                <a:solidFill>
                  <a:srgbClr val="8C8C8C"/>
                </a:solidFill>
                <a:latin typeface="Arial"/>
                <a:cs typeface="Arial"/>
              </a:rPr>
              <a:t>النقود والبنوك • ٢٢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18846" y="381000"/>
            <a:ext cx="7385538" cy="533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 lang="ar-EG">
                <a:solidFill>
                  <a:srgbClr val="FFFFFF"/>
                </a:solidFill>
                <a:latin typeface="Arial"/>
                <a:cs typeface="Arial"/>
              </a:rPr>
              <a:t>العملات المشفّرة: أصلٌ رقمي من نوعٍ مختلف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47846" y="1333500"/>
            <a:ext cx="3780692" cy="2209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70" lang="ar-EG">
                <a:solidFill>
                  <a:srgbClr val="1F2D4D"/>
                </a:solidFill>
                <a:latin typeface="Arial"/>
                <a:cs typeface="Arial"/>
              </a:rPr>
              <a:t>المزايا المحتملة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إجراء المعاملات مباشرةً بين الأطراف (من النظير إلى النظير)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إمكانية التحويل عبر الحدود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سجلات رقمية لإثبات الملكية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تطبيقات قابلة للبرمجة</a:t>
            </a:r>
          </a:p>
        </p:txBody>
      </p:sp>
      <p:sp>
        <p:nvSpPr>
          <p:cNvPr id="8" name="Rectangle 7"/>
          <p:cNvSpPr/>
          <p:nvPr/>
        </p:nvSpPr>
        <p:spPr>
          <a:xfrm>
            <a:off x="8475785" y="1371600"/>
            <a:ext cx="52754" cy="21336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0292" y="1333500"/>
            <a:ext cx="3815862" cy="22479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570" lang="ar-EG">
                <a:solidFill>
                  <a:srgbClr val="1F2D4D"/>
                </a:solidFill>
                <a:latin typeface="Arial"/>
                <a:cs typeface="Arial"/>
              </a:rPr>
              <a:t>المخاطر والتحديات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التقلب الحاد في الأسعار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مخاطر الأمن السيبراني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الاحتيال وعمليات النصب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عدم اليقين التنظيمي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262626"/>
                </a:solidFill>
                <a:latin typeface="Arial"/>
                <a:cs typeface="Arial"/>
              </a:rPr>
              <a:t>مخاوف تتعلق بحماية المستهلك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371600"/>
            <a:ext cx="52754" cy="21717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01462" y="3619500"/>
            <a:ext cx="5627077" cy="4953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ليس كلُّ أصلٍ رقمي نقودًا.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846" y="266700"/>
            <a:ext cx="1758462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00" lang="ar-EG">
                <a:solidFill>
                  <a:srgbClr val="8C8C8C"/>
                </a:solidFill>
                <a:latin typeface="Arial"/>
                <a:cs typeface="Arial"/>
              </a:rPr>
              <a:t>النقود الحديثة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5615" y="342900"/>
            <a:ext cx="5978769" cy="533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30" lang="ar-EG">
                <a:solidFill>
                  <a:srgbClr val="FFFFFF"/>
                </a:solidFill>
                <a:latin typeface="Arial"/>
                <a:cs typeface="Arial"/>
              </a:rPr>
              <a:t>أداة الدفع ≠ النقود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958862" y="990600"/>
            <a:ext cx="3516923" cy="2133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بطاقة الخصم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أداة دفع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تتيح لك الوصول إلى الأموال وإجراء المدفوعات إلكترونيًا.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23031" y="1028700"/>
            <a:ext cx="52754" cy="2057400"/>
          </a:xfrm>
          <a:prstGeom prst="rect">
            <a:avLst/>
          </a:prstGeom>
          <a:solidFill>
            <a:srgbClr val="2E5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2708" y="990600"/>
            <a:ext cx="3604846" cy="2019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الوديعة المصرفية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أصلٌ نقدي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يمكن تحويل الأموال المودعة أو استخدامها في السداد.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1028700"/>
            <a:ext cx="52754" cy="19431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846" y="3143250"/>
            <a:ext cx="8440615" cy="7239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FFFF00"/>
                </a:solidFill>
                <a:latin typeface="Arial"/>
                <a:cs typeface="Arial"/>
              </a:rPr>
              <a:t>قد تتغير وسيلة الدفع دون أن تتغير الوظيفة الاقتصادية الأساسية للنقود.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3923" y="3905250"/>
            <a:ext cx="6330462" cy="4953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FFFFFF"/>
                </a:solidFill>
                <a:latin typeface="Arial"/>
                <a:cs typeface="Arial"/>
              </a:rPr>
              <a:t>النقود الرقمية والشمول المالي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61185" y="4457700"/>
            <a:ext cx="2567354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المحافظ الرقمية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سداد الفواتير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تحويل الأموال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شراء المنتجات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استلام الأموال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4457700"/>
            <a:ext cx="2567354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الخدمات الرقمية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الاستعلام عن الأرصدة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التحويلات الإلكترونية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المدفوعات عبر الهاتف المحمول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الخدمات المصرفية عبر الإنترنت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2031" y="4457700"/>
            <a:ext cx="2567354" cy="19431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الشمول المالي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استلام الرواتب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سداد الفواتير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الادخار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الوصول إلى الخدمات المالية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28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419100"/>
            <a:ext cx="9144000" cy="9525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3200" lang="ar-EG">
                <a:solidFill>
                  <a:srgbClr val="FFC000"/>
                </a:solidFill>
                <a:latin typeface="Arial"/>
                <a:cs typeface="Arial"/>
              </a:rPr>
              <a:t>التطور التاريخي للنقود</a:t>
            </a:r>
          </a:p>
        </p:txBody>
      </p:sp>
      <p:sp>
        <p:nvSpPr>
          <p:cNvPr id="3" name="Rectangle 2"/>
          <p:cNvSpPr/>
          <p:nvPr/>
        </p:nvSpPr>
        <p:spPr>
          <a:xfrm>
            <a:off x="791308" y="2952750"/>
            <a:ext cx="7385538" cy="57150"/>
          </a:xfrm>
          <a:prstGeom prst="rect">
            <a:avLst/>
          </a:prstGeom>
          <a:solidFill>
            <a:srgbClr val="D9A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948246" y="2647950"/>
            <a:ext cx="527538" cy="66675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78969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المقايضة</a:t>
            </a:r>
          </a:p>
        </p:txBody>
      </p:sp>
      <p:sp>
        <p:nvSpPr>
          <p:cNvPr id="6" name="Oval 5"/>
          <p:cNvSpPr/>
          <p:nvPr/>
        </p:nvSpPr>
        <p:spPr>
          <a:xfrm>
            <a:off x="6699738" y="2647950"/>
            <a:ext cx="527538" cy="666750"/>
          </a:xfrm>
          <a:prstGeom prst="ellipse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30462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النقود السلعية</a:t>
            </a:r>
          </a:p>
        </p:txBody>
      </p:sp>
      <p:sp>
        <p:nvSpPr>
          <p:cNvPr id="8" name="Oval 7"/>
          <p:cNvSpPr/>
          <p:nvPr/>
        </p:nvSpPr>
        <p:spPr>
          <a:xfrm>
            <a:off x="5451231" y="2647950"/>
            <a:ext cx="527538" cy="666750"/>
          </a:xfrm>
          <a:prstGeom prst="ellipse">
            <a:avLst/>
          </a:prstGeom>
          <a:solidFill>
            <a:srgbClr val="2A5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81954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النقود المعدنية</a:t>
            </a:r>
          </a:p>
        </p:txBody>
      </p:sp>
      <p:sp>
        <p:nvSpPr>
          <p:cNvPr id="10" name="Oval 9"/>
          <p:cNvSpPr/>
          <p:nvPr/>
        </p:nvSpPr>
        <p:spPr>
          <a:xfrm>
            <a:off x="4202723" y="2647950"/>
            <a:ext cx="527538" cy="666750"/>
          </a:xfrm>
          <a:prstGeom prst="ellipse">
            <a:avLst/>
          </a:prstGeom>
          <a:solidFill>
            <a:srgbClr val="3C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33446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النقود الورقية</a:t>
            </a:r>
          </a:p>
        </p:txBody>
      </p:sp>
      <p:sp>
        <p:nvSpPr>
          <p:cNvPr id="12" name="Oval 11"/>
          <p:cNvSpPr/>
          <p:nvPr/>
        </p:nvSpPr>
        <p:spPr>
          <a:xfrm>
            <a:off x="2954215" y="2647950"/>
            <a:ext cx="527538" cy="666750"/>
          </a:xfrm>
          <a:prstGeom prst="ellipse">
            <a:avLst/>
          </a:prstGeom>
          <a:solidFill>
            <a:srgbClr val="E0A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4938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النقود المصرفية</a:t>
            </a:r>
          </a:p>
        </p:txBody>
      </p:sp>
      <p:sp>
        <p:nvSpPr>
          <p:cNvPr id="14" name="Oval 13"/>
          <p:cNvSpPr/>
          <p:nvPr/>
        </p:nvSpPr>
        <p:spPr>
          <a:xfrm>
            <a:off x="1705708" y="2647950"/>
            <a:ext cx="527538" cy="666750"/>
          </a:xfrm>
          <a:prstGeom prst="ellipse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36431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المدفوعات الإلكترونية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647950"/>
            <a:ext cx="527538" cy="666750"/>
          </a:xfrm>
          <a:prstGeom prst="ellipse">
            <a:avLst/>
          </a:prstGeom>
          <a:solidFill>
            <a:srgbClr val="2A5A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923" y="3505200"/>
            <a:ext cx="1266092" cy="7620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FFFFFF"/>
                </a:solidFill>
                <a:latin typeface="Arial"/>
                <a:cs typeface="Arial"/>
              </a:rPr>
              <a:t>المدفوعات الرقمية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5846" y="6400800"/>
            <a:ext cx="2110154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700" lang="ar-EG">
                <a:solidFill>
                  <a:srgbClr val="8C8C8C"/>
                </a:solidFill>
                <a:latin typeface="Arial"/>
                <a:cs typeface="Arial"/>
              </a:rPr>
              <a:t>النقود والبنوك • ١٥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14300"/>
            <a:ext cx="9144000" cy="7239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ar-EG">
                <a:solidFill>
                  <a:srgbClr val="FFFFFF"/>
                </a:solidFill>
                <a:latin typeface="Arial"/>
                <a:cs typeface="Arial"/>
              </a:rPr>
              <a:t>٣. النقود بوصفها مخزنًا للقيمة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818185" y="952500"/>
            <a:ext cx="4220308" cy="20574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lang="ar-EG">
                <a:solidFill>
                  <a:srgbClr val="1F2D4D"/>
                </a:solidFill>
                <a:latin typeface="Arial"/>
                <a:cs typeface="Arial"/>
              </a:rPr>
              <a:t>اليوم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0" sz="2200" lang="ar-EG">
                <a:solidFill>
                  <a:srgbClr val="262626"/>
                </a:solidFill>
                <a:latin typeface="Arial"/>
                <a:cs typeface="Arial"/>
              </a:rPr>
              <a:t>تتسلّم ٥٬٠٠٠ جنيه مصري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200" lang="ar-EG">
                <a:solidFill>
                  <a:srgbClr val="262626"/>
                </a:solidFill>
                <a:latin typeface="Arial"/>
                <a:cs typeface="Arial"/>
              </a:rPr>
              <a:t>ولا تُنفقها كلها.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75846" y="952500"/>
            <a:ext cx="4466492" cy="2019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200" lang="ar-EG">
                <a:solidFill>
                  <a:srgbClr val="1F2D4D"/>
                </a:solidFill>
                <a:latin typeface="Arial"/>
                <a:cs typeface="Arial"/>
              </a:rPr>
              <a:t>المستقبل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00" lang="ar-EG">
                <a:solidFill>
                  <a:srgbClr val="262626"/>
                </a:solidFill>
                <a:latin typeface="Arial"/>
                <a:cs typeface="Arial"/>
              </a:rPr>
              <a:t>استخدام المدخرات لاحقًا في شراء السلع والخدمات.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238500"/>
            <a:ext cx="9144000" cy="6096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FFC000"/>
                </a:solidFill>
                <a:latin typeface="Arial"/>
                <a:cs typeface="Arial"/>
              </a:rPr>
              <a:t>قد يؤدي التضخم إلى تآكل القوة الشرائية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886200"/>
            <a:ext cx="9144000" cy="6858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200" lang="ar-EG">
                <a:solidFill>
                  <a:srgbClr val="FFFFFF"/>
                </a:solidFill>
                <a:latin typeface="Arial"/>
                <a:cs typeface="Arial"/>
              </a:rPr>
              <a:t>٤. النقود بوصفها معيارًا للمدفوعات الآجلة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4686300"/>
            <a:ext cx="2672862" cy="2019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400" lang="ar-EG">
                <a:solidFill>
                  <a:srgbClr val="1F2D4D"/>
                </a:solidFill>
                <a:latin typeface="Arial"/>
                <a:cs typeface="Arial"/>
              </a:rPr>
              <a:t>القرض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سداد ١٠٠٬٠٠٠ جنيه مصري بعد عامٍ واحد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35569" y="4686300"/>
            <a:ext cx="2989385" cy="2019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400" lang="ar-EG">
                <a:solidFill>
                  <a:srgbClr val="1F2D4D"/>
                </a:solidFill>
                <a:latin typeface="Arial"/>
                <a:cs typeface="Arial"/>
              </a:rPr>
              <a:t>التقسيط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السداد على مدى عدة أشهر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338" y="4686300"/>
            <a:ext cx="2989385" cy="201930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2400" lang="ar-EG">
                <a:solidFill>
                  <a:srgbClr val="1F2D4D"/>
                </a:solidFill>
                <a:latin typeface="Arial"/>
                <a:cs typeface="Arial"/>
              </a:rPr>
              <a:t>العقد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تحديد التزامٍ نقدي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14300"/>
            <a:ext cx="9144000" cy="6858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ar-EG">
                <a:solidFill>
                  <a:srgbClr val="FFFFFF"/>
                </a:solidFill>
                <a:latin typeface="Arial"/>
                <a:cs typeface="Arial"/>
              </a:rPr>
              <a:t>١. النقود بوصفها وسيطًا للتبادل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9615" y="876300"/>
            <a:ext cx="8264769" cy="7620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تحظى النقود بقبولٍ عام في مقابل الحصول على السلع والخدمات.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06308" y="1752600"/>
            <a:ext cx="1547446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59" bIns="22859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أنت</a:t>
            </a:r>
          </a:p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النقود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33446" y="1752600"/>
            <a:ext cx="1934308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59" bIns="22859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أمين الصندوق</a:t>
            </a:r>
          </a:p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الدفع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7154" y="1752600"/>
            <a:ext cx="2022231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2859" bIns="22859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المتجر</a:t>
            </a:r>
          </a:p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430" lang="ar-EG">
                <a:solidFill>
                  <a:srgbClr val="1F2D4D"/>
                </a:solidFill>
                <a:latin typeface="Arial"/>
                <a:cs typeface="Arial"/>
              </a:rPr>
              <a:t>السلع</a:t>
            </a:r>
          </a:p>
        </p:txBody>
      </p:sp>
      <p:sp>
        <p:nvSpPr>
          <p:cNvPr id="8" name="Left Arrow 7"/>
          <p:cNvSpPr/>
          <p:nvPr/>
        </p:nvSpPr>
        <p:spPr>
          <a:xfrm>
            <a:off x="5873262" y="1943100"/>
            <a:ext cx="527538" cy="45720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ft Arrow 8"/>
          <p:cNvSpPr/>
          <p:nvPr/>
        </p:nvSpPr>
        <p:spPr>
          <a:xfrm>
            <a:off x="3094892" y="1943100"/>
            <a:ext cx="633046" cy="457200"/>
          </a:xfrm>
          <a:prstGeom prst="leftArrow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2819400"/>
            <a:ext cx="9144000" cy="6858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400" lang="ar-EG">
                <a:solidFill>
                  <a:srgbClr val="FFFFFF"/>
                </a:solidFill>
                <a:latin typeface="Arial"/>
                <a:cs typeface="Arial"/>
              </a:rPr>
              <a:t>٢. النقود بوصفها وحدةً للحساب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3769" y="3543300"/>
            <a:ext cx="8616462" cy="5715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توفر النقود لغةً مشتركة للتعبير عن الأسعار.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96354" y="4267200"/>
            <a:ext cx="2233246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1F2D4D"/>
                </a:solidFill>
                <a:latin typeface="Arial"/>
                <a:cs typeface="Arial"/>
              </a:rPr>
              <a:t>القهوة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٨٠ ج.م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40015" y="4267200"/>
            <a:ext cx="2250831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1F2D4D"/>
                </a:solidFill>
                <a:latin typeface="Arial"/>
                <a:cs typeface="Arial"/>
              </a:rPr>
              <a:t>الكتاب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٣٠٠ ج.م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6815" y="4267200"/>
            <a:ext cx="2584938" cy="11430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1F2D4D"/>
                </a:solidFill>
                <a:latin typeface="Arial"/>
                <a:cs typeface="Arial"/>
              </a:rPr>
              <a:t>الحاسوب المحمول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2020" lang="ar-EG">
                <a:solidFill>
                  <a:srgbClr val="262626"/>
                </a:solidFill>
                <a:latin typeface="Arial"/>
                <a:cs typeface="Arial"/>
              </a:rPr>
              <a:t>٣٠٬٠٠٠ ج.م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114300"/>
          </a:xfrm>
          <a:prstGeom prst="rect">
            <a:avLst/>
          </a:prstGeom>
          <a:solidFill>
            <a:srgbClr val="1F7A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846" y="266700"/>
            <a:ext cx="1758462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800" lang="ar-EG">
                <a:solidFill>
                  <a:srgbClr val="8C8C8C"/>
                </a:solidFill>
                <a:latin typeface="Arial"/>
                <a:cs typeface="Arial"/>
              </a:rPr>
              <a:t>التطور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846" y="6400800"/>
            <a:ext cx="2110154" cy="2667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700" lang="ar-EG">
                <a:solidFill>
                  <a:srgbClr val="8C8C8C"/>
                </a:solidFill>
                <a:latin typeface="Arial"/>
                <a:cs typeface="Arial"/>
              </a:rPr>
              <a:t>النقود والبنوك • ١٦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80692" y="342900"/>
            <a:ext cx="4923692" cy="533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30" lang="ar-EG">
                <a:solidFill>
                  <a:srgbClr val="FFFFFF"/>
                </a:solidFill>
                <a:latin typeface="Arial"/>
                <a:cs typeface="Arial"/>
              </a:rPr>
              <a:t>النقود السلعية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3769" y="914400"/>
            <a:ext cx="8616462" cy="5334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0" lang="ar-EG">
                <a:solidFill>
                  <a:srgbClr val="FFFF00"/>
                </a:solidFill>
                <a:latin typeface="Arial"/>
                <a:cs typeface="Arial"/>
              </a:rPr>
              <a:t>يمكن لسلعةٍ ذات قيمة استعمالية ذاتية أن تؤدي أيضًا وظيفة النقود.</a:t>
            </a:r>
          </a:p>
        </p:txBody>
      </p:sp>
      <p:sp>
        <p:nvSpPr>
          <p:cNvPr id="8" name="Rectangle 7"/>
          <p:cNvSpPr/>
          <p:nvPr/>
        </p:nvSpPr>
        <p:spPr>
          <a:xfrm>
            <a:off x="8387862" y="1638300"/>
            <a:ext cx="52754" cy="1219200"/>
          </a:xfrm>
          <a:prstGeom prst="rect">
            <a:avLst/>
          </a:prstGeom>
          <a:solidFill>
            <a:srgbClr val="E8A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95092" y="1600200"/>
            <a:ext cx="3604846" cy="1295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70" lang="ar-EG">
                <a:solidFill>
                  <a:srgbClr val="E8A33C"/>
                </a:solidFill>
                <a:latin typeface="Arial"/>
                <a:cs typeface="Arial"/>
              </a:rPr>
              <a:t>أمثلة تاريخية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70" lang="ar-EG">
                <a:solidFill>
                  <a:srgbClr val="E8A33C"/>
                </a:solidFill>
                <a:latin typeface="Arial"/>
                <a:cs typeface="Arial"/>
              </a:rPr>
              <a:t>الملح • الماشية • الحبوب • التبغ • الشاي • جلود الحيوانات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13738" y="1638300"/>
            <a:ext cx="52754" cy="1219200"/>
          </a:xfrm>
          <a:prstGeom prst="rect">
            <a:avLst/>
          </a:prstGeom>
          <a:solidFill>
            <a:srgbClr val="C05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846" y="1600200"/>
            <a:ext cx="4149969" cy="1295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70" lang="ar-EG">
                <a:solidFill>
                  <a:srgbClr val="E8A33C"/>
                </a:solidFill>
                <a:latin typeface="Arial"/>
                <a:cs typeface="Arial"/>
              </a:rPr>
              <a:t>أوجه القصور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370" lang="ar-EG">
                <a:solidFill>
                  <a:srgbClr val="E8A33C"/>
                </a:solidFill>
                <a:latin typeface="Arial"/>
                <a:cs typeface="Arial"/>
              </a:rPr>
              <a:t>صعوبة النقل • القابلية للتلف • التفاوت في الجودة • صعوبة التجزئة • تقلبات المعروض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77308" y="3086100"/>
            <a:ext cx="5627077" cy="5334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020" lang="ar-EG">
                <a:solidFill>
                  <a:srgbClr val="FFFFFF"/>
                </a:solidFill>
                <a:latin typeface="Arial"/>
                <a:cs typeface="Arial"/>
              </a:rPr>
              <a:t>النقود المعدنية والمسكوكات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2923" y="3695700"/>
            <a:ext cx="2813538" cy="571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30" lang="ar-EG">
                <a:solidFill>
                  <a:srgbClr val="FFFF00"/>
                </a:solidFill>
                <a:latin typeface="Arial"/>
                <a:cs typeface="Arial"/>
              </a:rPr>
              <a:t>لماذا المعادن؟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890846" y="4267200"/>
            <a:ext cx="2461846" cy="2095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متينة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سهلة الحمل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قابلة للتجزئة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سهلة التمييز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نادرة نسبيًا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سهلة التخزين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13538" y="3695700"/>
            <a:ext cx="2813538" cy="571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 lang="ar-EG">
                <a:solidFill>
                  <a:srgbClr val="FFFFFF"/>
                </a:solidFill>
                <a:latin typeface="Arial"/>
                <a:cs typeface="Arial"/>
              </a:rPr>
              <a:t>لماذا المسكوكات؟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13538" y="4267200"/>
            <a:ext cx="2725615" cy="2095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وزنٌ موحَّد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محتوى معدني موحَّد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علامة مميِّزة يسهل التعرف عليها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تقليل الحاجة إلى الوزن في كل معاملة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923" y="3695700"/>
            <a:ext cx="2637692" cy="571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900" lang="ar-EG">
                <a:solidFill>
                  <a:srgbClr val="FFFFFF"/>
                </a:solidFill>
                <a:latin typeface="Arial"/>
                <a:cs typeface="Arial"/>
              </a:rPr>
              <a:t>أوجه القصور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092" y="4267200"/>
            <a:ext cx="2602523" cy="2095500"/>
          </a:xfrm>
          <a:prstGeom prst="rect">
            <a:avLst/>
          </a:prstGeom>
          <a:noFill/>
        </p:spPr>
        <p:txBody>
          <a:bodyPr wrap="square" anchor="t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ثقل الوزن عند التعامل بكمياتٍ كبيرة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مخاطر السرقة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تكاليف النقل والتخزين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370" lang="ar-EG">
                <a:solidFill>
                  <a:srgbClr val="FFFF00"/>
                </a:solidFill>
                <a:latin typeface="Arial"/>
                <a:cs typeface="Arial"/>
              </a:rPr>
              <a:t>محدودية توافر المعادن النفيسة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38100"/>
            <a:ext cx="9144000" cy="5715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ar-EG">
                <a:solidFill>
                  <a:srgbClr val="FFFFFF"/>
                </a:solidFill>
                <a:latin typeface="Arial"/>
                <a:cs typeface="Arial"/>
              </a:rPr>
              <a:t>قبل النقود: نظام المقايضة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11015" y="571500"/>
            <a:ext cx="8721969" cy="4953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المقايضة = التبادل المباشر لسلعةٍ أو خدمةٍ بسلعةٍ أو خدمةٍ أخرى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20308" y="1181100"/>
            <a:ext cx="2461846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المزارع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١٠ كجم من القمح</a:t>
            </a:r>
          </a:p>
        </p:txBody>
      </p:sp>
      <p:sp>
        <p:nvSpPr>
          <p:cNvPr id="6" name="Left Arrow 5"/>
          <p:cNvSpPr/>
          <p:nvPr/>
        </p:nvSpPr>
        <p:spPr>
          <a:xfrm>
            <a:off x="3270738" y="1219200"/>
            <a:ext cx="808892" cy="800100"/>
          </a:xfrm>
          <a:prstGeom prst="leftArrow">
            <a:avLst/>
          </a:prstGeom>
          <a:solidFill>
            <a:srgbClr val="FFFFFF"/>
          </a:solidFill>
          <a:ln w="952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92369" y="1181100"/>
            <a:ext cx="26376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الصياد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1F2D4D"/>
                </a:solidFill>
                <a:latin typeface="Arial"/>
                <a:cs typeface="Arial"/>
              </a:rPr>
              <a:t>٥ كجم من السمك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5846" y="2209800"/>
            <a:ext cx="8792308" cy="5334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789" lang="ar-EG">
                <a:solidFill>
                  <a:srgbClr val="FFFF00"/>
                </a:solidFill>
                <a:latin typeface="Arial"/>
                <a:cs typeface="Arial"/>
              </a:rPr>
              <a:t>المشكلة الرئيسة: التوافق المزدوج للرغبات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6646" y="2819400"/>
            <a:ext cx="2461846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789" lang="ar-EG">
                <a:solidFill>
                  <a:srgbClr val="1F2D4D"/>
                </a:solidFill>
                <a:latin typeface="Arial"/>
                <a:cs typeface="Arial"/>
              </a:rPr>
              <a:t>أحمد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b="1" sz="1689" lang="ar-EG">
                <a:solidFill>
                  <a:srgbClr val="E00000"/>
                </a:solidFill>
                <a:latin typeface="Arial"/>
                <a:cs typeface="Arial"/>
              </a:rPr>
              <a:t>يملك: قمحًا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1F3FA0"/>
                </a:solidFill>
                <a:latin typeface="Arial"/>
                <a:cs typeface="Arial"/>
              </a:rPr>
              <a:t>يريد: أحذية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22431" y="2819400"/>
            <a:ext cx="2848708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بائع الأحذية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89" lang="ar-EG">
                <a:solidFill>
                  <a:srgbClr val="E00000"/>
                </a:solidFill>
                <a:latin typeface="Arial"/>
                <a:cs typeface="Arial"/>
              </a:rPr>
              <a:t>يملك: أحذية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60" lang="ar-EG">
                <a:solidFill>
                  <a:srgbClr val="1F3FA0"/>
                </a:solidFill>
                <a:latin typeface="Arial"/>
                <a:cs typeface="Arial"/>
              </a:rPr>
              <a:t>ويجب أن يريد أيضًا: قمحًا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923" y="2819400"/>
            <a:ext cx="3393831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01600" rIns="101600" tIns="60960" bIns="60960"/>
          <a:lstStyle/>
          <a:p>
            <a:pPr algn="ctr" rtl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المشكلة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689" lang="ar-EG">
                <a:solidFill>
                  <a:srgbClr val="E00000"/>
                </a:solidFill>
                <a:latin typeface="Arial"/>
                <a:cs typeface="Arial"/>
              </a:rPr>
              <a:t>إذا لم يرغب البائع في القمح، فلن تتم المبادلة بسهولة.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638800"/>
            <a:ext cx="9144000" cy="8382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600" lang="ar-EG">
                <a:solidFill>
                  <a:srgbClr val="FFFFFF"/>
                </a:solidFill>
                <a:latin typeface="Arial"/>
                <a:cs typeface="Arial"/>
              </a:rPr>
              <a:t>تُزيل النقود هذا القيد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18846" y="76200"/>
            <a:ext cx="7385538" cy="6096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ar-EG">
                <a:solidFill>
                  <a:srgbClr val="FFFFFF"/>
                </a:solidFill>
                <a:latin typeface="Arial"/>
                <a:cs typeface="Arial"/>
              </a:rPr>
              <a:t>كيف تحلّ النقود المشكلة؟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76646" y="1028700"/>
            <a:ext cx="2250831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١. البيع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60" lang="ar-EG">
                <a:solidFill>
                  <a:srgbClr val="262626"/>
                </a:solidFill>
                <a:latin typeface="Arial"/>
                <a:cs typeface="Arial"/>
              </a:rPr>
              <a:t>القمح ← النقود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42138" y="1028700"/>
            <a:ext cx="3341077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٢. الاحتفاظ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60" lang="ar-EG">
                <a:solidFill>
                  <a:srgbClr val="262626"/>
                </a:solidFill>
                <a:latin typeface="Arial"/>
                <a:cs typeface="Arial"/>
              </a:rPr>
              <a:t>النقود ← القوة الشرائية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815" y="1028700"/>
            <a:ext cx="1969477" cy="838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45719" bIns="45719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b="0" sz="1430" lang="ar-EG">
                <a:solidFill>
                  <a:srgbClr val="262626"/>
                </a:solidFill>
                <a:latin typeface="Arial"/>
                <a:cs typeface="Arial"/>
              </a:rPr>
              <a:t>٣. الشراء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1560" lang="ar-EG">
                <a:solidFill>
                  <a:srgbClr val="262626"/>
                </a:solidFill>
                <a:latin typeface="Arial"/>
                <a:cs typeface="Arial"/>
              </a:rPr>
              <a:t>النقود ← الأحذية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943100"/>
            <a:ext cx="9144000" cy="6477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00" lang="ar-EG">
                <a:solidFill>
                  <a:srgbClr val="FFFF00"/>
                </a:solidFill>
                <a:latin typeface="Arial"/>
                <a:cs typeface="Arial"/>
              </a:rPr>
              <a:t>تفصل النقود بين عملية البيع وعملية الشراء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2628900"/>
            <a:ext cx="9144000" cy="609600"/>
          </a:xfrm>
          <a:prstGeom prst="rect">
            <a:avLst/>
          </a:prstGeom>
          <a:noFill/>
        </p:spPr>
        <p:txBody>
          <a:bodyPr wrap="square" anchor="ctr" lIns="50800" rIns="50800" tIns="30480" bIns="30480">
            <a:spAutoFit/>
          </a:bodyPr>
          <a:lstStyle/>
          <a:p>
            <a:pPr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1" sz="2130" lang="ar-EG">
                <a:solidFill>
                  <a:srgbClr val="F0A500"/>
                </a:solidFill>
                <a:latin typeface="Arial"/>
                <a:cs typeface="Arial"/>
              </a:rPr>
              <a:t>لماذا نحتاج إلى النقود؟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33846" y="3467100"/>
            <a:ext cx="1934308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560" lang="ar-EG">
                <a:solidFill>
                  <a:srgbClr val="1F7A72"/>
                </a:solidFill>
                <a:latin typeface="Arial"/>
                <a:cs typeface="Arial"/>
              </a:rPr>
              <a:t>٠١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وسيط للتبادل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lang="ar-EG">
                <a:solidFill>
                  <a:srgbClr val="262626"/>
                </a:solidFill>
                <a:latin typeface="Arial"/>
                <a:cs typeface="Arial"/>
              </a:rPr>
              <a:t>البيع والشراء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595959"/>
                </a:solidFill>
                <a:latin typeface="Arial"/>
                <a:cs typeface="Arial"/>
              </a:rPr>
              <a:t>سداد ثمن الطعام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11615" y="3467100"/>
            <a:ext cx="1934308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560" lang="ar-EG">
                <a:solidFill>
                  <a:srgbClr val="1F7A72"/>
                </a:solidFill>
                <a:latin typeface="Arial"/>
                <a:cs typeface="Arial"/>
              </a:rPr>
              <a:t>٠٢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وحدة للحساب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lang="ar-EG">
                <a:solidFill>
                  <a:srgbClr val="262626"/>
                </a:solidFill>
                <a:latin typeface="Arial"/>
                <a:cs typeface="Arial"/>
              </a:rPr>
              <a:t>قياس القيمة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595959"/>
                </a:solidFill>
                <a:latin typeface="Arial"/>
                <a:cs typeface="Arial"/>
              </a:rPr>
              <a:t>الكتاب = ٣٠٠ ج.م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954215" y="3467100"/>
            <a:ext cx="1969477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560" lang="ar-EG">
                <a:solidFill>
                  <a:srgbClr val="1F7A72"/>
                </a:solidFill>
                <a:latin typeface="Arial"/>
                <a:cs typeface="Arial"/>
              </a:rPr>
              <a:t>٠٣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مخزن للقيمة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lang="ar-EG">
                <a:solidFill>
                  <a:srgbClr val="262626"/>
                </a:solidFill>
                <a:latin typeface="Arial"/>
                <a:cs typeface="Arial"/>
              </a:rPr>
              <a:t>حفظ القوة الشرائية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595959"/>
                </a:solidFill>
                <a:latin typeface="Arial"/>
                <a:cs typeface="Arial"/>
              </a:rPr>
              <a:t>ادخار ٥٬٠٠٠ ج.م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5846" y="3467100"/>
            <a:ext cx="2637692" cy="28956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14300" rIns="114300" tIns="68580" bIns="68580"/>
          <a:lstStyle/>
          <a:p>
            <a:pPr algn="r" rtl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b="1" sz="1560" lang="ar-EG">
                <a:solidFill>
                  <a:srgbClr val="1F7A72"/>
                </a:solidFill>
                <a:latin typeface="Arial"/>
                <a:cs typeface="Arial"/>
              </a:rPr>
              <a:t>٠٤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</a:pPr>
            <a:r>
              <a:rPr b="1" sz="1680" lang="ar-EG">
                <a:solidFill>
                  <a:srgbClr val="1F2D4D"/>
                </a:solidFill>
                <a:latin typeface="Arial"/>
                <a:cs typeface="Arial"/>
              </a:rPr>
              <a:t>المدفوعات الآجلة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b="1" sz="1500" lang="ar-EG">
                <a:solidFill>
                  <a:srgbClr val="262626"/>
                </a:solidFill>
                <a:latin typeface="Arial"/>
                <a:cs typeface="Arial"/>
              </a:rPr>
              <a:t>قياس المدفوعات المستقبلية</a:t>
            </a:r>
          </a:p>
          <a:p>
            <a:pPr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b="0" sz="1500" lang="ar-EG">
                <a:solidFill>
                  <a:srgbClr val="595959"/>
                </a:solidFill>
                <a:latin typeface="Arial"/>
                <a:cs typeface="Arial"/>
              </a:rPr>
              <a:t>سداد قرض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