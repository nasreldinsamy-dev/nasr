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320040"/>
            <a:ext cx="80467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rtl="1" algn="ctr"/>
            <a:r>
              <a:rPr b="1" sz="3200" lang="ar-EG">
                <a:solidFill>
                  <a:srgbClr val="FFFFFF"/>
                </a:solidFill>
                <a:latin typeface="Arial"/>
                <a:cs typeface="Arial"/>
              </a:rPr>
              <a:t>١. ما النقود؟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83210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just">
              <a:lnSpc>
                <a:spcPct val="110000"/>
              </a:lnSpc>
              <a:spcAft>
                <a:spcPts val="1600"/>
              </a:spcAft>
            </a:pPr>
            <a:r>
              <a:rPr b="1" sz="2800" lang="ar-EG">
                <a:solidFill>
                  <a:srgbClr val="FFFF00"/>
                </a:solidFill>
                <a:latin typeface="Arial"/>
                <a:cs typeface="Arial"/>
              </a:rPr>
              <a:t>النقود هي كلُّ ما يحظى بقبولٍ عامٍّ وسيلةً لسداد ثمن السلع والخدمات.</a:t>
            </a:r>
          </a:p>
          <a:p>
            <a:pPr rtl="1" algn="just">
              <a:lnSpc>
                <a:spcPct val="110000"/>
              </a:lnSpc>
              <a:spcAft>
                <a:spcPts val="1600"/>
              </a:spcAft>
            </a:pPr>
            <a:r>
              <a:rPr b="1" sz="2800" lang="ar-EG">
                <a:solidFill>
                  <a:srgbClr val="FFFFFF"/>
                </a:solidFill>
                <a:latin typeface="Arial"/>
                <a:cs typeface="Arial"/>
              </a:rPr>
              <a:t>تُمكِّن النقود الأفراد من البيع والشراء والادخار وقياس القيمة الاقتصادية.</a:t>
            </a:r>
          </a:p>
          <a:p>
            <a:pPr rtl="1" algn="just">
              <a:lnSpc>
                <a:spcPct val="110000"/>
              </a:lnSpc>
              <a:spcAft>
                <a:spcPts val="1600"/>
              </a:spcAft>
            </a:pPr>
            <a:r>
              <a:rPr b="1" sz="2800" lang="ar-EG">
                <a:solidFill>
                  <a:srgbClr val="FFFF00"/>
                </a:solidFill>
                <a:latin typeface="Arial"/>
                <a:cs typeface="Arial"/>
              </a:rPr>
              <a:t>تعتمد الاقتصادات الحديثة أساسًا على النقود الإلزامية (القانونية) التي تُصدَر بموجب سلطة الحكومة.</a:t>
            </a:r>
          </a:p>
          <a:p>
            <a:pPr rtl="1" algn="just">
              <a:lnSpc>
                <a:spcPct val="110000"/>
              </a:lnSpc>
              <a:spcAft>
                <a:spcPts val="1600"/>
              </a:spcAft>
            </a:pPr>
            <a:r>
              <a:rPr b="1" sz="2800" lang="ar-EG">
                <a:solidFill>
                  <a:srgbClr val="FFFF00"/>
                </a:solidFill>
                <a:latin typeface="Arial"/>
                <a:cs typeface="Arial"/>
              </a:rPr>
              <a:t>أمثلة: </a:t>
            </a:r>
            <a:r>
              <a:rPr b="1" sz="2800" lang="ar-EG">
                <a:solidFill>
                  <a:srgbClr val="FFFFFF"/>
                </a:solidFill>
                <a:latin typeface="Arial"/>
                <a:cs typeface="Arial"/>
              </a:rPr>
              <a:t>الأوراق النقدية، و</a:t>
            </a:r>
            <a:r>
              <a:rPr b="1" sz="2800" lang="ar-EG">
                <a:solidFill>
                  <a:srgbClr val="FFC000"/>
                </a:solidFill>
                <a:latin typeface="Arial"/>
                <a:cs typeface="Arial"/>
              </a:rPr>
              <a:t>المسكوكات المعدنية</a:t>
            </a:r>
            <a:r>
              <a:rPr b="1" sz="2800" lang="ar-EG">
                <a:solidFill>
                  <a:srgbClr val="FFFFFF"/>
                </a:solidFill>
                <a:latin typeface="Arial"/>
                <a:cs typeface="Arial"/>
              </a:rPr>
              <a:t>، والودائع المصرفية.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320040"/>
            <a:ext cx="80467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rtl="1" algn="ctr"/>
            <a:r>
              <a:rPr b="1" sz="3200" lang="ar-EG">
                <a:solidFill>
                  <a:srgbClr val="FFFFFF"/>
                </a:solidFill>
                <a:latin typeface="Arial"/>
                <a:cs typeface="Arial"/>
              </a:rPr>
              <a:t>٢. لماذا نحتاج إلى النقود؟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83210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just">
              <a:lnSpc>
                <a:spcPct val="110000"/>
              </a:lnSpc>
              <a:spcAft>
                <a:spcPts val="1600"/>
              </a:spcAft>
            </a:pPr>
            <a:r>
              <a:rPr b="1" sz="2800" lang="ar-EG">
                <a:solidFill>
                  <a:srgbClr val="FFFF00"/>
                </a:solidFill>
                <a:latin typeface="Arial"/>
                <a:cs typeface="Arial"/>
              </a:rPr>
              <a:t>في غياب النقود، يعتمد التبادل على نظام المقايضة.</a:t>
            </a:r>
          </a:p>
          <a:p>
            <a:pPr rtl="1" algn="just">
              <a:lnSpc>
                <a:spcPct val="110000"/>
              </a:lnSpc>
              <a:spcAft>
                <a:spcPts val="1600"/>
              </a:spcAft>
            </a:pPr>
            <a:r>
              <a:rPr b="1" sz="2800" lang="ar-EG">
                <a:solidFill>
                  <a:srgbClr val="FFFFFF"/>
                </a:solidFill>
                <a:latin typeface="Arial"/>
                <a:cs typeface="Arial"/>
              </a:rPr>
              <a:t>تتطلب المقايضة توافقًا مزدوجًا للرغبات.</a:t>
            </a:r>
          </a:p>
          <a:p>
            <a:pPr rtl="1" algn="just">
              <a:lnSpc>
                <a:spcPct val="110000"/>
              </a:lnSpc>
              <a:spcAft>
                <a:spcPts val="1600"/>
              </a:spcAft>
            </a:pPr>
            <a:r>
              <a:rPr b="1" sz="2800" lang="ar-EG">
                <a:solidFill>
                  <a:srgbClr val="FFFF00"/>
                </a:solidFill>
                <a:latin typeface="Arial"/>
                <a:cs typeface="Arial"/>
              </a:rPr>
              <a:t>مثال: مزارعٌ يرغب في الحصول على أحذية، وصانعُ أحذيةٍ يرغب في الحصول على القمح في الوقت ذاته.</a:t>
            </a:r>
          </a:p>
          <a:p>
            <a:pPr rtl="1" algn="just">
              <a:lnSpc>
                <a:spcPct val="110000"/>
              </a:lnSpc>
              <a:spcAft>
                <a:spcPts val="1600"/>
              </a:spcAft>
            </a:pPr>
            <a:r>
              <a:rPr b="1" sz="2800" lang="ar-EG">
                <a:solidFill>
                  <a:srgbClr val="FFFFFF"/>
                </a:solidFill>
                <a:latin typeface="Arial"/>
                <a:cs typeface="Arial"/>
              </a:rPr>
              <a:t>تُيسِّر النقود عملية التبادل وتُخفِّض تكاليف المعاملات.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320040"/>
            <a:ext cx="80467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rtl="1" algn="ctr"/>
            <a:r>
              <a:rPr b="1" sz="3200" lang="ar-EG">
                <a:solidFill>
                  <a:srgbClr val="FFFFFF"/>
                </a:solidFill>
                <a:latin typeface="Arial"/>
                <a:cs typeface="Arial"/>
              </a:rPr>
              <a:t>٣. الوظائف الأربع الرئيسة للنقود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83210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just">
              <a:lnSpc>
                <a:spcPct val="110000"/>
              </a:lnSpc>
              <a:spcAft>
                <a:spcPts val="1600"/>
              </a:spcAft>
            </a:pPr>
            <a:r>
              <a:rPr b="1" sz="2800" lang="ar-EG">
                <a:solidFill>
                  <a:srgbClr val="FFFF00"/>
                </a:solidFill>
                <a:latin typeface="Arial"/>
                <a:cs typeface="Arial"/>
              </a:rPr>
              <a:t>وسيطٌ للتبادل — تُستخدم في عمليات البيع والشراء.</a:t>
            </a:r>
          </a:p>
          <a:p>
            <a:pPr rtl="1" algn="just">
              <a:lnSpc>
                <a:spcPct val="110000"/>
              </a:lnSpc>
              <a:spcAft>
                <a:spcPts val="1600"/>
              </a:spcAft>
            </a:pPr>
            <a:r>
              <a:rPr b="1" sz="2800" lang="ar-EG">
                <a:solidFill>
                  <a:srgbClr val="FFFFFF"/>
                </a:solidFill>
                <a:latin typeface="Arial"/>
                <a:cs typeface="Arial"/>
              </a:rPr>
              <a:t>وحدةٌ للحساب — توفر أساسًا مشتركًا للتعبير عن الأسعار.</a:t>
            </a:r>
          </a:p>
          <a:p>
            <a:pPr rtl="1" algn="just">
              <a:lnSpc>
                <a:spcPct val="110000"/>
              </a:lnSpc>
              <a:spcAft>
                <a:spcPts val="1600"/>
              </a:spcAft>
            </a:pPr>
            <a:r>
              <a:rPr b="1" sz="2800" lang="ar-EG">
                <a:solidFill>
                  <a:srgbClr val="FFFF00"/>
                </a:solidFill>
                <a:latin typeface="Arial"/>
                <a:cs typeface="Arial"/>
              </a:rPr>
              <a:t>مخزنٌ للقيمة — تتيح نقل القوة الشرائية إلى المستقبل.</a:t>
            </a:r>
          </a:p>
          <a:p>
            <a:pPr rtl="1" algn="just">
              <a:lnSpc>
                <a:spcPct val="110000"/>
              </a:lnSpc>
              <a:spcAft>
                <a:spcPts val="1600"/>
              </a:spcAft>
            </a:pPr>
            <a:r>
              <a:rPr b="1" sz="2800" lang="ar-EG">
                <a:solidFill>
                  <a:srgbClr val="FFFFFF"/>
                </a:solidFill>
                <a:latin typeface="Arial"/>
                <a:cs typeface="Arial"/>
              </a:rPr>
              <a:t>معيارٌ للمدفوعات الآجلة — تُستخدم في تسوية الديون والعقود المستقبلية.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320040"/>
            <a:ext cx="80467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rtl="1" algn="ctr"/>
            <a:r>
              <a:rPr b="1" sz="3200" lang="ar-EG">
                <a:solidFill>
                  <a:srgbClr val="FFFFFF"/>
                </a:solidFill>
                <a:latin typeface="Arial"/>
                <a:cs typeface="Arial"/>
              </a:rPr>
              <a:t>٤. خصائص النقود الجيدة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83210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just">
              <a:lnSpc>
                <a:spcPct val="110000"/>
              </a:lnSpc>
              <a:spcAft>
                <a:spcPts val="1600"/>
              </a:spcAft>
            </a:pPr>
            <a:r>
              <a:rPr b="1" sz="2800" lang="ar-EG">
                <a:solidFill>
                  <a:srgbClr val="FFFF00"/>
                </a:solidFill>
                <a:latin typeface="Arial"/>
                <a:cs typeface="Arial"/>
              </a:rPr>
              <a:t>القبول العام — استعداد الأفراد لقبولها.</a:t>
            </a:r>
          </a:p>
          <a:p>
            <a:pPr rtl="1" algn="just">
              <a:lnSpc>
                <a:spcPct val="110000"/>
              </a:lnSpc>
              <a:spcAft>
                <a:spcPts val="1600"/>
              </a:spcAft>
            </a:pPr>
            <a:r>
              <a:rPr b="1" sz="2800" lang="ar-EG">
                <a:solidFill>
                  <a:srgbClr val="FFFFFF"/>
                </a:solidFill>
                <a:latin typeface="Arial"/>
                <a:cs typeface="Arial"/>
              </a:rPr>
              <a:t>القدرة على التحمُّل — إمكانية استخدامها مرارًا.</a:t>
            </a:r>
          </a:p>
          <a:p>
            <a:pPr rtl="1" algn="just">
              <a:lnSpc>
                <a:spcPct val="110000"/>
              </a:lnSpc>
              <a:spcAft>
                <a:spcPts val="1600"/>
              </a:spcAft>
            </a:pPr>
            <a:r>
              <a:rPr b="1" sz="2800" lang="ar-EG">
                <a:solidFill>
                  <a:srgbClr val="FFFF00"/>
                </a:solidFill>
                <a:latin typeface="Arial"/>
                <a:cs typeface="Arial"/>
              </a:rPr>
              <a:t>سهولة الحمل — يسهل حملها أو تحويلها.</a:t>
            </a:r>
          </a:p>
          <a:p>
            <a:pPr rtl="1" algn="just">
              <a:lnSpc>
                <a:spcPct val="110000"/>
              </a:lnSpc>
              <a:spcAft>
                <a:spcPts val="1600"/>
              </a:spcAft>
            </a:pPr>
            <a:r>
              <a:rPr b="1" sz="2800" lang="ar-EG">
                <a:solidFill>
                  <a:srgbClr val="FFFFFF"/>
                </a:solidFill>
                <a:latin typeface="Arial"/>
                <a:cs typeface="Arial"/>
              </a:rPr>
              <a:t>قابلية التجزئة — إمكانية تقسيمها إلى وحداتٍ أصغر.</a:t>
            </a:r>
          </a:p>
          <a:p>
            <a:pPr rtl="1" algn="just">
              <a:lnSpc>
                <a:spcPct val="110000"/>
              </a:lnSpc>
              <a:spcAft>
                <a:spcPts val="1600"/>
              </a:spcAft>
            </a:pPr>
            <a:r>
              <a:rPr b="1" sz="2800" lang="ar-EG">
                <a:solidFill>
                  <a:srgbClr val="FFFF00"/>
                </a:solidFill>
                <a:latin typeface="Arial"/>
                <a:cs typeface="Arial"/>
              </a:rPr>
              <a:t>سهولة التمييز — يستطيع المستخدمون التعرف عليها بسهولة.</a:t>
            </a:r>
          </a:p>
          <a:p>
            <a:pPr rtl="1" algn="just">
              <a:lnSpc>
                <a:spcPct val="110000"/>
              </a:lnSpc>
              <a:spcAft>
                <a:spcPts val="1600"/>
              </a:spcAft>
            </a:pPr>
            <a:r>
              <a:rPr b="1" sz="2800" lang="ar-EG">
                <a:solidFill>
                  <a:srgbClr val="FFFFFF"/>
                </a:solidFill>
                <a:latin typeface="Arial"/>
                <a:cs typeface="Arial"/>
              </a:rPr>
              <a:t>الاستقرار النسبي في القيمة.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320040"/>
            <a:ext cx="80467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rtl="1" algn="ctr"/>
            <a:r>
              <a:rPr b="1" sz="3200" lang="ar-EG">
                <a:solidFill>
                  <a:srgbClr val="FFFFFF"/>
                </a:solidFill>
                <a:latin typeface="Arial"/>
                <a:cs typeface="Arial"/>
              </a:rPr>
              <a:t>٥. أنواع النقود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83210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just">
              <a:lnSpc>
                <a:spcPct val="110000"/>
              </a:lnSpc>
              <a:spcAft>
                <a:spcPts val="1600"/>
              </a:spcAft>
            </a:pPr>
            <a:r>
              <a:rPr b="1" sz="2800" lang="ar-EG">
                <a:solidFill>
                  <a:srgbClr val="FFFF00"/>
                </a:solidFill>
                <a:latin typeface="Arial"/>
                <a:cs typeface="Arial"/>
              </a:rPr>
              <a:t>النقود السلعية: </a:t>
            </a:r>
            <a:r>
              <a:rPr b="1" sz="2800" lang="ar-EG">
                <a:solidFill>
                  <a:srgbClr val="FFFFFF"/>
                </a:solidFill>
                <a:latin typeface="Arial"/>
                <a:cs typeface="Arial"/>
              </a:rPr>
              <a:t>لها قيمةٌ ذاتية، كالذهب في الأنظمة النقدية التاريخية.</a:t>
            </a:r>
          </a:p>
          <a:p>
            <a:pPr rtl="1" algn="just">
              <a:lnSpc>
                <a:spcPct val="110000"/>
              </a:lnSpc>
              <a:spcAft>
                <a:spcPts val="1600"/>
              </a:spcAft>
            </a:pPr>
            <a:r>
              <a:rPr b="1" sz="2800" lang="ar-EG">
                <a:solidFill>
                  <a:srgbClr val="FFFF00"/>
                </a:solidFill>
                <a:latin typeface="Arial"/>
                <a:cs typeface="Arial"/>
              </a:rPr>
              <a:t>النقود الإلزامية: </a:t>
            </a:r>
            <a:r>
              <a:rPr b="1" sz="2800" lang="ar-EG">
                <a:solidFill>
                  <a:srgbClr val="FFFFFF"/>
                </a:solidFill>
                <a:latin typeface="Arial"/>
                <a:cs typeface="Arial"/>
              </a:rPr>
              <a:t>تستمد قيمتها أساسًا من قبولها القانوني والثقة بها.</a:t>
            </a:r>
          </a:p>
          <a:p>
            <a:pPr rtl="1" algn="just">
              <a:lnSpc>
                <a:spcPct val="110000"/>
              </a:lnSpc>
              <a:spcAft>
                <a:spcPts val="1600"/>
              </a:spcAft>
            </a:pPr>
            <a:r>
              <a:rPr b="1" sz="2800" lang="ar-EG">
                <a:solidFill>
                  <a:srgbClr val="FFFF00"/>
                </a:solidFill>
                <a:latin typeface="Arial"/>
                <a:cs typeface="Arial"/>
              </a:rPr>
              <a:t>النقد: </a:t>
            </a:r>
            <a:r>
              <a:rPr b="1" sz="2800" lang="ar-EG">
                <a:solidFill>
                  <a:srgbClr val="FFFFFF"/>
                </a:solidFill>
                <a:latin typeface="Arial"/>
                <a:cs typeface="Arial"/>
              </a:rPr>
              <a:t>الأوراق النقدية والمسكوكات المعدنية.</a:t>
            </a:r>
          </a:p>
          <a:p>
            <a:pPr rtl="1" algn="just">
              <a:lnSpc>
                <a:spcPct val="110000"/>
              </a:lnSpc>
              <a:spcAft>
                <a:spcPts val="1600"/>
              </a:spcAft>
            </a:pPr>
            <a:r>
              <a:rPr b="1" sz="2800" lang="ar-EG">
                <a:solidFill>
                  <a:srgbClr val="FFFF00"/>
                </a:solidFill>
                <a:latin typeface="Arial"/>
                <a:cs typeface="Arial"/>
              </a:rPr>
              <a:t>نقود الودائع: </a:t>
            </a:r>
            <a:r>
              <a:rPr b="1" sz="2800" lang="ar-EG">
                <a:solidFill>
                  <a:srgbClr val="FFFFFF"/>
                </a:solidFill>
                <a:latin typeface="Arial"/>
                <a:cs typeface="Arial"/>
              </a:rPr>
              <a:t>الأموال المودعة في الحسابات المصرفية والمستخدمة في المدفوعات.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320040"/>
            <a:ext cx="80467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rtl="1" algn="ctr"/>
            <a:r>
              <a:rPr b="1" sz="3200" lang="ar-EG">
                <a:solidFill>
                  <a:srgbClr val="FFFFFF"/>
                </a:solidFill>
                <a:latin typeface="Arial"/>
                <a:cs typeface="Arial"/>
              </a:rPr>
              <a:t>٦. النقود مقابل </a:t>
            </a:r>
            <a:r>
              <a:rPr b="1" sz="3200" lang="ar-EG">
                <a:solidFill>
                  <a:srgbClr val="FFC000"/>
                </a:solidFill>
                <a:latin typeface="Arial"/>
                <a:cs typeface="Arial"/>
              </a:rPr>
              <a:t>الثروة</a:t>
            </a:r>
            <a:r>
              <a:rPr b="1" sz="3200" lang="ar-EG">
                <a:solidFill>
                  <a:srgbClr val="FFFFFF"/>
                </a:solidFill>
                <a:latin typeface="Arial"/>
                <a:cs typeface="Arial"/>
              </a:rPr>
              <a:t> مقابل </a:t>
            </a:r>
            <a:r>
              <a:rPr b="1" sz="3200" lang="ar-EG">
                <a:solidFill>
                  <a:srgbClr val="FF0000"/>
                </a:solidFill>
                <a:latin typeface="Arial"/>
                <a:cs typeface="Arial"/>
              </a:rPr>
              <a:t>الدخل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83210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just">
              <a:lnSpc>
                <a:spcPct val="110000"/>
              </a:lnSpc>
              <a:spcAft>
                <a:spcPts val="1600"/>
              </a:spcAft>
            </a:pPr>
            <a:r>
              <a:rPr b="1" sz="2800" lang="ar-EG">
                <a:solidFill>
                  <a:srgbClr val="FFFF00"/>
                </a:solidFill>
                <a:latin typeface="Arial"/>
                <a:cs typeface="Arial"/>
              </a:rPr>
              <a:t>النقود: </a:t>
            </a:r>
            <a:r>
              <a:rPr b="1" sz="2800" lang="ar-EG">
                <a:solidFill>
                  <a:srgbClr val="FFFFFF"/>
                </a:solidFill>
                <a:latin typeface="Arial"/>
                <a:cs typeface="Arial"/>
              </a:rPr>
              <a:t>أصلٌ مالي يُستخدم في السداد.</a:t>
            </a:r>
          </a:p>
          <a:p>
            <a:pPr rtl="1" algn="just">
              <a:lnSpc>
                <a:spcPct val="110000"/>
              </a:lnSpc>
              <a:spcAft>
                <a:spcPts val="1600"/>
              </a:spcAft>
            </a:pPr>
            <a:r>
              <a:rPr b="1" sz="2800" lang="ar-EG">
                <a:solidFill>
                  <a:srgbClr val="FFC000"/>
                </a:solidFill>
                <a:latin typeface="Arial"/>
                <a:cs typeface="Arial"/>
              </a:rPr>
              <a:t>الثروة: </a:t>
            </a:r>
            <a:r>
              <a:rPr b="1" sz="2800" lang="ar-EG">
                <a:solidFill>
                  <a:srgbClr val="FFFFFF"/>
                </a:solidFill>
                <a:latin typeface="Arial"/>
                <a:cs typeface="Arial"/>
              </a:rPr>
              <a:t>قيمة الأصول التي يمتلكها فردٌ أو مؤسسة.</a:t>
            </a:r>
          </a:p>
          <a:p>
            <a:pPr rtl="1" algn="just">
              <a:lnSpc>
                <a:spcPct val="110000"/>
              </a:lnSpc>
              <a:spcAft>
                <a:spcPts val="1600"/>
              </a:spcAft>
            </a:pPr>
            <a:r>
              <a:rPr b="1" sz="2800" lang="ar-EG">
                <a:solidFill>
                  <a:srgbClr val="FF0000"/>
                </a:solidFill>
                <a:latin typeface="Arial"/>
                <a:cs typeface="Arial"/>
              </a:rPr>
              <a:t>الدخل: </a:t>
            </a:r>
            <a:r>
              <a:rPr b="1" sz="2800" lang="ar-EG">
                <a:solidFill>
                  <a:srgbClr val="FFFFFF"/>
                </a:solidFill>
                <a:latin typeface="Arial"/>
                <a:cs typeface="Arial"/>
              </a:rPr>
              <a:t>تدفقٌ يُكتسَب خلال فترةٍ زمنية محددة.</a:t>
            </a:r>
          </a:p>
          <a:p>
            <a:pPr rtl="1" algn="just">
              <a:lnSpc>
                <a:spcPct val="110000"/>
              </a:lnSpc>
              <a:spcAft>
                <a:spcPts val="1600"/>
              </a:spcAft>
            </a:pPr>
            <a:r>
              <a:rPr b="1" sz="2800" lang="ar-EG">
                <a:solidFill>
                  <a:srgbClr val="FFFF00"/>
                </a:solidFill>
                <a:latin typeface="Arial"/>
                <a:cs typeface="Arial"/>
              </a:rPr>
              <a:t>مثال: المنزل ثروة، والراتب دخل، والنقد الذي في محفظتك نقود.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